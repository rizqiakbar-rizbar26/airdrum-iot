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8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zh49sE4021wXwW1bDnMAazpVJRrTCvFA/view?usp=sharing" TargetMode="External"/><Relationship Id="rId5" Type="http://schemas.openxmlformats.org/officeDocument/2006/relationships/hyperlink" Target="https://github.com/rizqiakbar-rizbar26/AIRDRUM-IOT" TargetMode="Externa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326135"/>
            <a:ext cx="10668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055465"/>
            <a:ext cx="1538287" cy="285750"/>
          </a:xfrm>
          <a:prstGeom prst="roundRect">
            <a:avLst>
              <a:gd name="adj" fmla="val 50000"/>
            </a:avLst>
          </a:prstGeom>
          <a:solidFill>
            <a:srgbClr val="0C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32613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07123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607123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325" y="4607123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569815"/>
            <a:ext cx="11251406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PROTOTYPE IoT AIRDRUM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373635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Sistem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Drum Udara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Interaktif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Berbasis Dual Smartphone, Sensor Motion Accelerometer-Gyroscope, &amp;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Komunikasi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Cloud MQTT Real-Time.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12615"/>
            <a:ext cx="13287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TUGAS BESAR IOT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587" y="2112615"/>
            <a:ext cx="361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5087" y="2112615"/>
            <a:ext cx="3214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Multicommunication 2 Arah &amp; Multisensor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602360"/>
            <a:ext cx="2345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2 Edge Devices (Android)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150" y="4602360"/>
            <a:ext cx="1381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MQTT over 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1125" y="4602360"/>
            <a:ext cx="192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Realtime Audio Synth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05C4D-F187-41DB-E866-3AE42F43C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06D465-FCD6-3222-6188-9764B6CF18C8}"/>
              </a:ext>
            </a:extLst>
          </p:cNvPr>
          <p:cNvSpPr/>
          <p:nvPr/>
        </p:nvSpPr>
        <p:spPr>
          <a:xfrm>
            <a:off x="957071" y="2082867"/>
            <a:ext cx="5295900" cy="802779"/>
          </a:xfrm>
          <a:prstGeom prst="roundRect">
            <a:avLst>
              <a:gd name="adj" fmla="val 96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688E8-14B7-8FC5-5A07-27F1202ECF83}"/>
              </a:ext>
            </a:extLst>
          </p:cNvPr>
          <p:cNvSpPr/>
          <p:nvPr/>
        </p:nvSpPr>
        <p:spPr>
          <a:xfrm>
            <a:off x="957070" y="2082867"/>
            <a:ext cx="45719" cy="80277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A0955-27CB-E49C-9DDE-D0B8052FB77B}"/>
              </a:ext>
            </a:extLst>
          </p:cNvPr>
          <p:cNvSpPr txBox="1"/>
          <p:nvPr/>
        </p:nvSpPr>
        <p:spPr>
          <a:xfrm>
            <a:off x="957072" y="1271962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Latar Belakang &amp; Solusi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D31DB-63E6-7D5A-C30B-687212CC5490}"/>
              </a:ext>
            </a:extLst>
          </p:cNvPr>
          <p:cNvSpPr txBox="1"/>
          <p:nvPr/>
        </p:nvSpPr>
        <p:spPr>
          <a:xfrm>
            <a:off x="957072" y="1529137"/>
            <a:ext cx="166635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 err="1">
                <a:solidFill>
                  <a:srgbClr val="0F172A"/>
                </a:solidFill>
                <a:latin typeface="Plus Jakarta Sans"/>
              </a:rPr>
              <a:t>Kelompok</a:t>
            </a:r>
            <a:r>
              <a:rPr lang="en-US" sz="2400" b="1" dirty="0">
                <a:solidFill>
                  <a:srgbClr val="0F172A"/>
                </a:solidFill>
                <a:latin typeface="Plus Jakarta Sans"/>
              </a:rPr>
              <a:t> 12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363F3-4DD5-5C85-3D2E-4C37251B526F}"/>
              </a:ext>
            </a:extLst>
          </p:cNvPr>
          <p:cNvSpPr txBox="1"/>
          <p:nvPr/>
        </p:nvSpPr>
        <p:spPr>
          <a:xfrm>
            <a:off x="1223771" y="2253680"/>
            <a:ext cx="20386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i="0" u="none" dirty="0">
                <a:solidFill>
                  <a:srgbClr val="1E293B"/>
                </a:solidFill>
                <a:latin typeface="Plus Jakarta Sans"/>
              </a:rPr>
              <a:t>Aryo </a:t>
            </a:r>
            <a:r>
              <a:rPr lang="en-US" b="1" i="0" u="none" dirty="0" err="1">
                <a:solidFill>
                  <a:srgbClr val="1E293B"/>
                </a:solidFill>
                <a:latin typeface="Plus Jakarta Sans"/>
              </a:rPr>
              <a:t>Bimo</a:t>
            </a:r>
            <a:r>
              <a:rPr lang="en-US" b="1" i="0" u="none" dirty="0">
                <a:solidFill>
                  <a:srgbClr val="1E293B"/>
                </a:solidFill>
                <a:latin typeface="Plus Jakarta Sans"/>
              </a:rPr>
              <a:t> </a:t>
            </a:r>
            <a:r>
              <a:rPr lang="en-US" b="1" i="0" u="none" dirty="0" err="1">
                <a:solidFill>
                  <a:srgbClr val="1E293B"/>
                </a:solidFill>
                <a:latin typeface="Plus Jakarta Sans"/>
              </a:rPr>
              <a:t>Bagaskoro</a:t>
            </a:r>
            <a:endParaRPr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B586F-5662-6A75-6A9C-AE11DBAB4360}"/>
              </a:ext>
            </a:extLst>
          </p:cNvPr>
          <p:cNvSpPr txBox="1"/>
          <p:nvPr/>
        </p:nvSpPr>
        <p:spPr>
          <a:xfrm>
            <a:off x="1223771" y="2606742"/>
            <a:ext cx="4895850" cy="22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0" i="0" u="none" dirty="0">
                <a:solidFill>
                  <a:srgbClr val="64748B"/>
                </a:solidFill>
                <a:latin typeface="Plus Jakarta Sans"/>
              </a:rPr>
              <a:t>24060125140191</a:t>
            </a:r>
            <a:endParaRPr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0F9C3ACD-549D-31E9-E9FB-2ADA72EEE049}"/>
              </a:ext>
            </a:extLst>
          </p:cNvPr>
          <p:cNvSpPr/>
          <p:nvPr/>
        </p:nvSpPr>
        <p:spPr>
          <a:xfrm>
            <a:off x="957070" y="3222819"/>
            <a:ext cx="5295900" cy="802779"/>
          </a:xfrm>
          <a:prstGeom prst="roundRect">
            <a:avLst>
              <a:gd name="adj" fmla="val 96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4285F-78F7-092B-13A8-C2F51085EC9D}"/>
              </a:ext>
            </a:extLst>
          </p:cNvPr>
          <p:cNvSpPr/>
          <p:nvPr/>
        </p:nvSpPr>
        <p:spPr>
          <a:xfrm>
            <a:off x="957069" y="3222819"/>
            <a:ext cx="45719" cy="80277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F9008-74B8-B76C-AFFC-589530E89052}"/>
              </a:ext>
            </a:extLst>
          </p:cNvPr>
          <p:cNvSpPr txBox="1"/>
          <p:nvPr/>
        </p:nvSpPr>
        <p:spPr>
          <a:xfrm>
            <a:off x="1223770" y="3393632"/>
            <a:ext cx="230242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Plus Jakarta Sans"/>
              </a:rPr>
              <a:t>Muhammad </a:t>
            </a:r>
            <a:r>
              <a:rPr lang="en-US" b="1" dirty="0" err="1">
                <a:solidFill>
                  <a:srgbClr val="1E293B"/>
                </a:solidFill>
                <a:latin typeface="Plus Jakarta Sans"/>
              </a:rPr>
              <a:t>Rizqi</a:t>
            </a:r>
            <a:r>
              <a:rPr lang="en-US" b="1" dirty="0">
                <a:solidFill>
                  <a:srgbClr val="1E293B"/>
                </a:solidFill>
                <a:latin typeface="Plus Jakarta Sans"/>
              </a:rPr>
              <a:t> Akbar</a:t>
            </a:r>
            <a:endParaRPr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F3ECB-84AA-A02A-DF2D-31B3DD212D95}"/>
              </a:ext>
            </a:extLst>
          </p:cNvPr>
          <p:cNvSpPr txBox="1"/>
          <p:nvPr/>
        </p:nvSpPr>
        <p:spPr>
          <a:xfrm>
            <a:off x="1223770" y="3746694"/>
            <a:ext cx="4895850" cy="22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0" i="0" u="none" dirty="0">
                <a:solidFill>
                  <a:srgbClr val="64748B"/>
                </a:solidFill>
                <a:latin typeface="Plus Jakarta Sans"/>
              </a:rPr>
              <a:t>24060125140201</a:t>
            </a:r>
            <a:endParaRPr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3" name="Rounded Rectangle 1">
            <a:extLst>
              <a:ext uri="{FF2B5EF4-FFF2-40B4-BE49-F238E27FC236}">
                <a16:creationId xmlns:a16="http://schemas.microsoft.com/office/drawing/2014/main" id="{14F5F6CF-7AE3-D999-5FD3-2A2A05457B6B}"/>
              </a:ext>
            </a:extLst>
          </p:cNvPr>
          <p:cNvSpPr/>
          <p:nvPr/>
        </p:nvSpPr>
        <p:spPr>
          <a:xfrm>
            <a:off x="957069" y="4362771"/>
            <a:ext cx="5295900" cy="802779"/>
          </a:xfrm>
          <a:prstGeom prst="roundRect">
            <a:avLst>
              <a:gd name="adj" fmla="val 96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83432C-14F2-9F86-7145-638C363632A1}"/>
              </a:ext>
            </a:extLst>
          </p:cNvPr>
          <p:cNvSpPr/>
          <p:nvPr/>
        </p:nvSpPr>
        <p:spPr>
          <a:xfrm>
            <a:off x="957068" y="4362771"/>
            <a:ext cx="45719" cy="80277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00FF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312ADA-0288-DB19-0424-7DCE21B010DB}"/>
              </a:ext>
            </a:extLst>
          </p:cNvPr>
          <p:cNvSpPr txBox="1"/>
          <p:nvPr/>
        </p:nvSpPr>
        <p:spPr>
          <a:xfrm>
            <a:off x="1223769" y="4533584"/>
            <a:ext cx="28989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D" b="1" dirty="0">
                <a:latin typeface="Plus Jakarta Sans"/>
              </a:rPr>
              <a:t>Muhammad </a:t>
            </a:r>
            <a:r>
              <a:rPr lang="en-ID" b="1" dirty="0" err="1">
                <a:latin typeface="Plus Jakarta Sans"/>
              </a:rPr>
              <a:t>Robith</a:t>
            </a:r>
            <a:r>
              <a:rPr lang="en-ID" b="1" dirty="0">
                <a:latin typeface="Plus Jakarta Sans"/>
              </a:rPr>
              <a:t> </a:t>
            </a:r>
            <a:r>
              <a:rPr lang="en-ID" b="1" dirty="0" err="1">
                <a:latin typeface="Plus Jakarta Sans"/>
              </a:rPr>
              <a:t>Hammada</a:t>
            </a:r>
            <a:endParaRPr b="1" i="0" u="none" dirty="0">
              <a:solidFill>
                <a:srgbClr val="1E293B"/>
              </a:solidFill>
              <a:latin typeface="Plus Jakarta San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2F3B4D-4B76-1454-F02E-58ADD4B0B9AB}"/>
              </a:ext>
            </a:extLst>
          </p:cNvPr>
          <p:cNvSpPr txBox="1"/>
          <p:nvPr/>
        </p:nvSpPr>
        <p:spPr>
          <a:xfrm>
            <a:off x="1223769" y="4886646"/>
            <a:ext cx="4895850" cy="22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0" i="0" u="none" dirty="0">
                <a:solidFill>
                  <a:srgbClr val="64748B"/>
                </a:solidFill>
                <a:latin typeface="Plus Jakarta Sans"/>
              </a:rPr>
              <a:t>2406012514014</a:t>
            </a:r>
            <a:r>
              <a:rPr lang="en-US" dirty="0">
                <a:solidFill>
                  <a:srgbClr val="64748B"/>
                </a:solidFill>
                <a:latin typeface="Plus Jakarta Sans"/>
              </a:rPr>
              <a:t>2</a:t>
            </a:r>
            <a:endParaRPr b="0" i="0" u="none" dirty="0">
              <a:solidFill>
                <a:srgbClr val="64748B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63651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26221"/>
            <a:ext cx="5295900" cy="1179016"/>
          </a:xfrm>
          <a:prstGeom prst="roundRect">
            <a:avLst>
              <a:gd name="adj" fmla="val 96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95737"/>
            <a:ext cx="5295900" cy="1179016"/>
          </a:xfrm>
          <a:prstGeom prst="roundRect">
            <a:avLst>
              <a:gd name="adj" fmla="val 96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626221"/>
            <a:ext cx="38100" cy="11790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995737"/>
            <a:ext cx="38100" cy="117901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85987"/>
            <a:ext cx="52959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Latar Belakang &amp; Solusi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Mengapa Membangun IoT AirDrum?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54821"/>
            <a:ext cx="63007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Tantangan Drum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150096"/>
            <a:ext cx="48958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Drum kit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fisik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mahal,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membutuhkan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ruang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luas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,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serta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menghasilkan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suara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keras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yang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membatasi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waktu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64748B"/>
                </a:solidFill>
                <a:latin typeface="Plus Jakarta Sans"/>
              </a:rPr>
              <a:t>latihan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224337"/>
            <a:ext cx="63007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Inovasi Solusi 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519612"/>
            <a:ext cx="48958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Memanfaatkan smartphone yang dimiliki pengguna sebagai stik drum pintar tanpa perangkat keras tambahan.</a:t>
            </a:r>
          </a:p>
        </p:txBody>
      </p:sp>
      <p:pic>
        <p:nvPicPr>
          <p:cNvPr id="14" name="Picture 13" descr="Amazon.com: Aerodrums Portable Electronic Drum Set, Air Drumsticks, Pedals  and Low Latency Camera, Quieter than Practice Pads, more Reliable &amp;  Accurate than Electronic Drum Sticks, Play Drums Anytime, Record MIDI :  Everything">
            <a:extLst>
              <a:ext uri="{FF2B5EF4-FFF2-40B4-BE49-F238E27FC236}">
                <a16:creationId xmlns:a16="http://schemas.microsoft.com/office/drawing/2014/main" id="{D922259F-ED84-C687-C465-AA70DB20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336863"/>
            <a:ext cx="501015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62187"/>
            <a:ext cx="10972800" cy="3238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262187"/>
          <a:ext cx="10972798" cy="3238500"/>
        </p:xfrm>
        <a:graphic>
          <a:graphicData uri="http://schemas.openxmlformats.org/drawingml/2006/table">
            <a:tbl>
              <a:tblPr/>
              <a:tblGrid>
                <a:gridCol w="290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3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Syarat Tugas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Implementasi AirDrum Prototype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Minimal 2 Edge Devices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 Smartphone Android (HP Stik Kiri &amp; HP Stik Kanan)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TERPENUHI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Minimal 2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Accelerometer (Percepatan) &amp; Gyroscope (Rotasi Sudut)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TERPENUHI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Minimal 2 Data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Perhitungan RMS Accelerometer &amp; Integrasi Kecepatan Rotasi Gyro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TERPENUHI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Algoritma /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Rule-Based Sensor Fusion Gesture Classifier (Pattern Matching)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TERPENUHI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Protokol Cloud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MQTT over TLS (Broker Publik HiveMQ / EMQX)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TERPENUHI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64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Dashboard Web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Audio Synthesizer Dashboard (Web Audio API Realtime)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TERPENUHI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334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Rubrik &amp; Spesifikasi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Pemenuhan Ketentuan Tugas IoT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6087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6087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6087"/>
            <a:ext cx="3505200" cy="1828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86087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986087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986087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2898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2898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328987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452812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3925" y="3452812"/>
            <a:ext cx="1333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3452812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Gestur Stik Drum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Pemetaan Gerakan &amp; Instrumen Drum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976687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Ketuk Horizontal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291012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Memicu sampel suara Bass Drum.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76687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Ketuk Vertikal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91012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Memicu sampel suara Hi-Hat.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3976687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Puter ke Belakang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4291012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Memicu aksen suara Snare Drum.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2633662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5662" y="2981325"/>
            <a:ext cx="2633662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81725" y="2981325"/>
            <a:ext cx="2633662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7787" y="2981325"/>
            <a:ext cx="2614612" cy="1838325"/>
          </a:xfrm>
          <a:prstGeom prst="roundRect">
            <a:avLst>
              <a:gd name="adj" fmla="val 621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Topologi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Arsitektur Komunikasi IoT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19450"/>
            <a:ext cx="26967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TAHAP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67100"/>
            <a:ext cx="28316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Edge Device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781425"/>
            <a:ext cx="225266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2 Smartphone Android membaca data sensor Accelerometer &amp; Gyroscope via Termux / Phyphox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3787" y="3219450"/>
            <a:ext cx="26967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TAHAP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3787" y="3467100"/>
            <a:ext cx="28316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Local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3787" y="3781425"/>
            <a:ext cx="225266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Script Python lokal menghitung nilai RMS percepatan &amp; magnitudo rotasi sudut secara realtime.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219450"/>
            <a:ext cx="26967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TAHAP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467100"/>
            <a:ext cx="28316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MQTT Cloud 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781425"/>
            <a:ext cx="225266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Publish pesan gestur JSON ke MQTT Broker HiveMQ publik melalui jalur terenkripsi TLS Port 8883.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6387" y="3209925"/>
            <a:ext cx="26967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TAHAP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87" y="3457575"/>
            <a:ext cx="28316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Synth Audio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87" y="3771900"/>
            <a:ext cx="2252662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Server Laptop &amp; Web Synth menerima payload gestur lalu membunyikan sampel audio drum seketika.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71712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28962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86212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43462"/>
            <a:ext cx="10972800" cy="685800"/>
          </a:xfrm>
          <a:prstGeom prst="roundRect">
            <a:avLst>
              <a:gd name="adj" fmla="val 1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24526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3099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41671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8200" y="501491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Langkah Instalasii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Panduan Setup &amp; Eksekusi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4526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1125" y="2519362"/>
            <a:ext cx="5643562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1E293B"/>
                </a:solidFill>
                <a:latin typeface="Plus Jakarta Sans"/>
              </a:rPr>
              <a:t>Install </a:t>
            </a:r>
            <a:r>
              <a:rPr sz="1275" b="1" i="0" u="none" dirty="0" err="1">
                <a:solidFill>
                  <a:srgbClr val="1E293B"/>
                </a:solidFill>
                <a:latin typeface="Plus Jakarta Sans"/>
              </a:rPr>
              <a:t>Termux</a:t>
            </a:r>
            <a:r>
              <a:rPr sz="1275" b="1" i="0" u="none" dirty="0">
                <a:solidFill>
                  <a:srgbClr val="1E293B"/>
                </a:solidFill>
                <a:latin typeface="Plus Jakarta Sans"/>
              </a:rPr>
              <a:t> &amp; </a:t>
            </a:r>
            <a:r>
              <a:rPr sz="1275" b="1" i="0" u="none" dirty="0" err="1">
                <a:solidFill>
                  <a:srgbClr val="1E293B"/>
                </a:solidFill>
                <a:latin typeface="Plus Jakarta Sans"/>
              </a:rPr>
              <a:t>Termux:API</a:t>
            </a:r>
            <a:r>
              <a:rPr sz="1275" b="1" i="0" u="none" dirty="0">
                <a:solidFill>
                  <a:srgbClr val="1E293B"/>
                </a:solidFill>
                <a:latin typeface="Plus Jakarta Sans"/>
              </a:rPr>
              <a:t> di </a:t>
            </a:r>
            <a:r>
              <a:rPr sz="1275" b="1" i="0" u="none" dirty="0" err="1">
                <a:solidFill>
                  <a:srgbClr val="1E293B"/>
                </a:solidFill>
                <a:latin typeface="Plus Jakarta Sans"/>
              </a:rPr>
              <a:t>kedua</a:t>
            </a:r>
            <a:r>
              <a:rPr sz="1275" b="1" i="0" u="none" dirty="0">
                <a:solidFill>
                  <a:srgbClr val="1E293B"/>
                </a:solidFill>
                <a:latin typeface="Plus Jakarta Sans"/>
              </a:rPr>
              <a:t> Smartphone Android.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33099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125" y="3376612"/>
            <a:ext cx="84422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Clone repository Git &amp; install dependency: pip install paho-mqtt python-dotenv.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41671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4233862"/>
            <a:ext cx="843985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E293B"/>
                </a:solidFill>
                <a:latin typeface="Plus Jakarta Sans"/>
              </a:rPr>
              <a:t>Konfigurasi topik MQTT unik pada file .env dan jalankan script python stick_edge.py.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50149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81587"/>
            <a:ext cx="625078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Buka Synth Dashboard di Laptop dan mulai mainkan IoT AirDrum.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2212"/>
            <a:ext cx="10972800" cy="2838450"/>
          </a:xfrm>
          <a:prstGeom prst="roundRect">
            <a:avLst>
              <a:gd name="adj" fmla="val 40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5825" y="3195637"/>
            <a:ext cx="10420350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681412"/>
            <a:ext cx="10420350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4167187"/>
            <a:ext cx="10420350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4652962"/>
            <a:ext cx="10420350" cy="371475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38437"/>
            <a:ext cx="2571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Dokumentasi Proyek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Struktur Repository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300" y="2762250"/>
            <a:ext cx="43131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D" dirty="0"/>
              <a:t>github.com/rizqiakbar-rizbar26/AIRDRUM-IOT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1075" y="3290887"/>
            <a:ext cx="48571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/node</a:t>
            </a:r>
            <a:r>
              <a:rPr lang="en-US" sz="1125" b="1" i="0" u="none" dirty="0">
                <a:solidFill>
                  <a:srgbClr val="0284C7"/>
                </a:solidFill>
                <a:latin typeface="Plus Jakarta Sans"/>
              </a:rPr>
              <a:t>s</a:t>
            </a:r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6575" y="3290887"/>
            <a:ext cx="781380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D" sz="1200" dirty="0"/>
              <a:t>Script Python yang </a:t>
            </a:r>
            <a:r>
              <a:rPr lang="en-ID" sz="1200" dirty="0" err="1"/>
              <a:t>berjalan</a:t>
            </a:r>
            <a:r>
              <a:rPr lang="en-ID" sz="1200" dirty="0"/>
              <a:t> di HP Android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membaca</a:t>
            </a:r>
            <a:r>
              <a:rPr lang="en-ID" sz="1200" dirty="0"/>
              <a:t> sensor (Accelerometer &amp; Gyroscope)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mendeteksi</a:t>
            </a:r>
            <a:r>
              <a:rPr lang="en-ID" sz="1200" dirty="0"/>
              <a:t> </a:t>
            </a:r>
            <a:r>
              <a:rPr lang="en-ID" sz="1200" dirty="0" err="1"/>
              <a:t>gestur</a:t>
            </a:r>
            <a:r>
              <a:rPr lang="en-ID" sz="1200" dirty="0"/>
              <a:t> </a:t>
            </a:r>
            <a:r>
              <a:rPr lang="en-ID" sz="1200" dirty="0" err="1"/>
              <a:t>stik</a:t>
            </a:r>
            <a:r>
              <a:rPr lang="en-ID" sz="1200" dirty="0"/>
              <a:t>.</a:t>
            </a:r>
            <a:endParaRPr sz="1125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1075" y="3776662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/shared/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6575" y="3776662"/>
            <a:ext cx="66924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D" sz="1200" dirty="0"/>
              <a:t>Modul </a:t>
            </a:r>
            <a:r>
              <a:rPr lang="en-ID" sz="1200" dirty="0" err="1"/>
              <a:t>pemrosesan</a:t>
            </a:r>
            <a:r>
              <a:rPr lang="en-ID" sz="1200" dirty="0"/>
              <a:t> </a:t>
            </a:r>
            <a:r>
              <a:rPr lang="en-ID" sz="1200" dirty="0" err="1"/>
              <a:t>logika</a:t>
            </a:r>
            <a:r>
              <a:rPr lang="en-ID" sz="1200" dirty="0"/>
              <a:t> sensor (</a:t>
            </a:r>
            <a:r>
              <a:rPr lang="en-ID" sz="1200" dirty="0" err="1"/>
              <a:t>kalkulasi</a:t>
            </a:r>
            <a:r>
              <a:rPr lang="en-ID" sz="1200" dirty="0"/>
              <a:t> RMS </a:t>
            </a:r>
            <a:r>
              <a:rPr lang="en-ID" sz="1200" dirty="0" err="1"/>
              <a:t>percepatan</a:t>
            </a:r>
            <a:r>
              <a:rPr lang="en-ID" sz="1200" dirty="0"/>
              <a:t>, </a:t>
            </a:r>
            <a:r>
              <a:rPr lang="en-ID" sz="1200" dirty="0" err="1"/>
              <a:t>integrasi</a:t>
            </a:r>
            <a:r>
              <a:rPr lang="en-ID" sz="1200" dirty="0"/>
              <a:t> </a:t>
            </a:r>
            <a:r>
              <a:rPr lang="en-ID" sz="1200" dirty="0" err="1"/>
              <a:t>rotasi</a:t>
            </a:r>
            <a:r>
              <a:rPr lang="en-ID" sz="1200" dirty="0"/>
              <a:t> gyro, dan </a:t>
            </a:r>
            <a:r>
              <a:rPr lang="en-ID" sz="1200" i="1" dirty="0"/>
              <a:t>MQTT client wrapper)</a:t>
            </a:r>
            <a:endParaRPr sz="1125" b="0" i="0" u="none" dirty="0"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1075" y="4262437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/dashboard/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6575" y="4262437"/>
            <a:ext cx="72692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D" sz="1200" dirty="0" err="1"/>
              <a:t>Aplikasi</a:t>
            </a:r>
            <a:r>
              <a:rPr lang="en-ID" sz="1200" dirty="0"/>
              <a:t> Web Audio Synthesizer (HTML/JS)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menerima</a:t>
            </a:r>
            <a:r>
              <a:rPr lang="en-ID" sz="1200" dirty="0"/>
              <a:t> event </a:t>
            </a:r>
            <a:r>
              <a:rPr lang="en-ID" sz="1200" dirty="0" err="1"/>
              <a:t>pemicu</a:t>
            </a:r>
            <a:r>
              <a:rPr lang="en-ID" sz="1200" dirty="0"/>
              <a:t> MQTT dan </a:t>
            </a:r>
            <a:r>
              <a:rPr lang="en-ID" sz="1200" dirty="0" err="1"/>
              <a:t>memutar</a:t>
            </a:r>
            <a:r>
              <a:rPr lang="en-ID" sz="1200" dirty="0"/>
              <a:t> </a:t>
            </a:r>
            <a:r>
              <a:rPr lang="en-ID" sz="1200" dirty="0" err="1"/>
              <a:t>suara</a:t>
            </a:r>
            <a:r>
              <a:rPr lang="en-ID" sz="1200" dirty="0"/>
              <a:t> drum </a:t>
            </a:r>
            <a:r>
              <a:rPr lang="en-ID" sz="1200" i="1" dirty="0"/>
              <a:t>real-time</a:t>
            </a:r>
            <a:r>
              <a:rPr lang="en-ID" sz="1200" dirty="0"/>
              <a:t>.</a:t>
            </a:r>
            <a:endParaRPr sz="1125" b="0" i="0" u="none" dirty="0"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1075" y="4748212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/docs/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6575" y="4748212"/>
            <a:ext cx="5617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D" sz="1200" dirty="0" err="1"/>
              <a:t>Dokumentasi</a:t>
            </a:r>
            <a:r>
              <a:rPr lang="en-ID" sz="1200" dirty="0"/>
              <a:t> </a:t>
            </a:r>
            <a:r>
              <a:rPr lang="en-ID" sz="1200" dirty="0" err="1"/>
              <a:t>arsitektur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, </a:t>
            </a:r>
            <a:r>
              <a:rPr lang="en-ID" sz="1200" dirty="0" err="1"/>
              <a:t>petunjuk</a:t>
            </a:r>
            <a:r>
              <a:rPr lang="en-ID" sz="1200" dirty="0"/>
              <a:t> </a:t>
            </a:r>
            <a:r>
              <a:rPr lang="en-ID" sz="1200" i="1" dirty="0"/>
              <a:t>setup</a:t>
            </a:r>
            <a:r>
              <a:rPr lang="en-ID" sz="1200" dirty="0"/>
              <a:t> </a:t>
            </a:r>
            <a:r>
              <a:rPr lang="en-ID" sz="1200" dirty="0" err="1"/>
              <a:t>Termux</a:t>
            </a:r>
            <a:r>
              <a:rPr lang="en-ID" sz="1200" dirty="0"/>
              <a:t>, dan </a:t>
            </a:r>
            <a:r>
              <a:rPr lang="en-ID" sz="1200" dirty="0" err="1"/>
              <a:t>tautan</a:t>
            </a:r>
            <a:r>
              <a:rPr lang="en-ID" sz="1200" dirty="0"/>
              <a:t> video demo </a:t>
            </a:r>
            <a:r>
              <a:rPr lang="en-ID" sz="1200" dirty="0" err="1"/>
              <a:t>pengujian</a:t>
            </a:r>
            <a:r>
              <a:rPr lang="en-ID" sz="1200" dirty="0"/>
              <a:t>.</a:t>
            </a:r>
            <a:endParaRPr sz="1125" b="0" i="0" u="none" dirty="0"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05237" y="4081462"/>
            <a:ext cx="2286000" cy="428625"/>
          </a:xfrm>
          <a:prstGeom prst="roundRect">
            <a:avLst>
              <a:gd name="adj" fmla="val 50000"/>
            </a:avLst>
          </a:prstGeom>
          <a:solidFill>
            <a:srgbClr val="181E2B"/>
          </a:solidFill>
          <a:ln w="9525">
            <a:solidFill>
              <a:srgbClr val="24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1737" y="4081462"/>
            <a:ext cx="2105025" cy="428625"/>
          </a:xfrm>
          <a:prstGeom prst="roundRect">
            <a:avLst>
              <a:gd name="adj" fmla="val 50000"/>
            </a:avLst>
          </a:prstGeom>
          <a:solidFill>
            <a:srgbClr val="181E2B"/>
          </a:solidFill>
          <a:ln w="9525">
            <a:solidFill>
              <a:srgbClr val="24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62" y="4233862"/>
            <a:ext cx="14287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862" y="4233862"/>
            <a:ext cx="104775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76875" y="2347912"/>
            <a:ext cx="1238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SESI DISKUSI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5731" y="2633662"/>
            <a:ext cx="4300537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Space Grotesk"/>
              </a:rPr>
              <a:t>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9906" y="3414712"/>
            <a:ext cx="60721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Demonstrasi &amp; Sesi Tanya Jawab Prototype IoT AirDrum</a:t>
            </a:r>
          </a:p>
        </p:txBody>
      </p:sp>
      <p:sp>
        <p:nvSpPr>
          <p:cNvPr id="10" name="TextBox 9">
            <a:hlinkClick r:id="rId5"/>
          </p:cNvPr>
          <p:cNvSpPr txBox="1"/>
          <p:nvPr/>
        </p:nvSpPr>
        <p:spPr>
          <a:xfrm>
            <a:off x="3748087" y="4195762"/>
            <a:ext cx="2400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E2E8F0"/>
                </a:solidFill>
                <a:latin typeface="Plus Jakarta Sans"/>
              </a:rPr>
              <a:t> Link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7209" y="4195762"/>
            <a:ext cx="2174081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D" sz="1125" b="0" i="0" u="none" dirty="0">
                <a:solidFill>
                  <a:srgbClr val="E2E8F0"/>
                </a:solidFill>
                <a:latin typeface="Plus Jakarta Sans"/>
                <a:hlinkClick r:id="rId6"/>
              </a:rPr>
              <a:t>Video Demo</a:t>
            </a:r>
            <a:r>
              <a:rPr sz="1125" b="0" i="0" u="none" dirty="0">
                <a:solidFill>
                  <a:srgbClr val="E2E8F0"/>
                </a:solidFill>
                <a:latin typeface="Plus Jakarta Sans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497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ARYO BIMO BAGASKORO</cp:lastModifiedBy>
  <cp:revision>4</cp:revision>
  <dcterms:created xsi:type="dcterms:W3CDTF">2013-01-27T09:14:16Z</dcterms:created>
  <dcterms:modified xsi:type="dcterms:W3CDTF">2026-10-29T16:53:19Z</dcterms:modified>
  <cp:category/>
</cp:coreProperties>
</file>